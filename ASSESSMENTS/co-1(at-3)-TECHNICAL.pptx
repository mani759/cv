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81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0079-4969-ED4B-A9DB-433FF7CE1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C8CCC-4664-2BDF-77D8-26F11A9C1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92CBE-611D-5BA7-7DB4-F0C40D43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79294-B1AE-108E-9561-B83EA2FB5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06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6" y="95378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5EB6F7-0288-EC49-7119-E4B4E8B35B10}"/>
              </a:ext>
            </a:extLst>
          </p:cNvPr>
          <p:cNvSpPr txBox="1"/>
          <p:nvPr/>
        </p:nvSpPr>
        <p:spPr>
          <a:xfrm>
            <a:off x="849087" y="2036552"/>
            <a:ext cx="12148456" cy="64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Issues in</a:t>
            </a:r>
            <a:r>
              <a:rPr lang="en-US" sz="3600" dirty="0"/>
              <a:t>  </a:t>
            </a: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Multi-Camera Systems</a:t>
            </a:r>
            <a:endParaRPr lang="en-US" sz="3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866524-D80B-62FF-6100-C861D472E4F5}"/>
              </a:ext>
            </a:extLst>
          </p:cNvPr>
          <p:cNvSpPr txBox="1"/>
          <p:nvPr/>
        </p:nvSpPr>
        <p:spPr>
          <a:xfrm>
            <a:off x="627484" y="4392486"/>
            <a:ext cx="64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 Christy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9F8752-D141-C9EC-F798-D9DD8A337DEF}"/>
              </a:ext>
            </a:extLst>
          </p:cNvPr>
          <p:cNvSpPr txBox="1"/>
          <p:nvPr/>
        </p:nvSpPr>
        <p:spPr>
          <a:xfrm>
            <a:off x="627484" y="3076307"/>
            <a:ext cx="10674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ITA0517-COMPUTER VISION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B865E6-992D-5EB1-4DB1-3F3A5F196104}"/>
              </a:ext>
            </a:extLst>
          </p:cNvPr>
          <p:cNvSpPr txBox="1"/>
          <p:nvPr/>
        </p:nvSpPr>
        <p:spPr>
          <a:xfrm>
            <a:off x="7126254" y="4180094"/>
            <a:ext cx="64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endParaRPr lang="en-IN" sz="2400" b="1" dirty="0">
              <a:latin typeface="Times New Roman"/>
              <a:cs typeface="Times New Roman"/>
            </a:endParaRPr>
          </a:p>
          <a:p>
            <a:r>
              <a:rPr lang="en-IN" sz="2400" dirty="0" err="1">
                <a:latin typeface="Times New Roman"/>
                <a:cs typeface="Times New Roman"/>
              </a:rPr>
              <a:t>G.Naga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dirty="0" err="1">
                <a:latin typeface="Times New Roman"/>
                <a:cs typeface="Times New Roman"/>
              </a:rPr>
              <a:t>Manikanta</a:t>
            </a:r>
            <a:r>
              <a:rPr lang="en-IN" sz="2400" dirty="0">
                <a:latin typeface="Times New Roman"/>
                <a:cs typeface="Times New Roman"/>
              </a:rPr>
              <a:t>(192425310)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5C4F7-24A4-05F0-8462-29927FFD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8F15E6-D613-B8DF-F3F7-24BA17612A80}"/>
              </a:ext>
            </a:extLst>
          </p:cNvPr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D8F9BC-B4CD-65FA-E1BA-AC332524431D}"/>
              </a:ext>
            </a:extLst>
          </p:cNvPr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EE975C-9581-1AC4-B2E7-CFBF4B905DED}"/>
              </a:ext>
            </a:extLst>
          </p:cNvPr>
          <p:cNvSpPr/>
          <p:nvPr/>
        </p:nvSpPr>
        <p:spPr>
          <a:xfrm>
            <a:off x="868680" y="149047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multi-camera system — </a:t>
            </a:r>
            <a:r>
              <a:rPr lang="en-US" sz="1600" dirty="0">
                <a:solidFill>
                  <a:srgbClr val="1A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two or more cameras observing the same scene from different viewpoints to enable 3D reconstruction, tracking, and wide-area surveillance.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62B2A4-1BEE-326F-63B6-0F86F4C5DB74}"/>
              </a:ext>
            </a:extLst>
          </p:cNvPr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E11017-D750-A550-585F-553A1807537C}"/>
              </a:ext>
            </a:extLst>
          </p:cNvPr>
          <p:cNvSpPr/>
          <p:nvPr/>
        </p:nvSpPr>
        <p:spPr>
          <a:xfrm>
            <a:off x="868680" y="2660904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task depends on time alignment — </a:t>
            </a:r>
            <a:r>
              <a:rPr lang="en-US" sz="1600" dirty="0">
                <a:solidFill>
                  <a:srgbClr val="1A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3D reconstruction, motion tracking, and event detection all assume that frames captured 'at the same moment' truly correspond in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313ED88-D32A-B54A-9E86-6578762D563F}"/>
              </a:ext>
            </a:extLst>
          </p:cNvPr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47F5A8-50CF-10AF-8344-4AF6B7739843}"/>
              </a:ext>
            </a:extLst>
          </p:cNvPr>
          <p:cNvSpPr/>
          <p:nvPr/>
        </p:nvSpPr>
        <p:spPr>
          <a:xfrm>
            <a:off x="868680" y="3831336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Cameras do not share a clock by default — </a:t>
            </a:r>
            <a:r>
              <a:rPr lang="en-US" sz="1600" dirty="0">
                <a:solidFill>
                  <a:srgbClr val="1A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unit runs its own internal oscillator and capture pipeline, so timestamps drift apart unless corrected.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821094-715E-CE99-4D39-B0EA84DBFDCA}"/>
              </a:ext>
            </a:extLst>
          </p:cNvPr>
          <p:cNvSpPr/>
          <p:nvPr/>
        </p:nvSpPr>
        <p:spPr>
          <a:xfrm>
            <a:off x="548640" y="5157216"/>
            <a:ext cx="128016" cy="12801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294F27-C339-99CA-44C2-EF43DB8CBB39}"/>
              </a:ext>
            </a:extLst>
          </p:cNvPr>
          <p:cNvSpPr/>
          <p:nvPr/>
        </p:nvSpPr>
        <p:spPr>
          <a:xfrm>
            <a:off x="868680" y="500176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synchronization is foundational — </a:t>
            </a:r>
            <a:r>
              <a:rPr lang="en-US" sz="1600" dirty="0">
                <a:solidFill>
                  <a:srgbClr val="1A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it, downstream computer vision algorithms receive mismatched, unreliable input — no matter how accurate the models are.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9AD9AA2-7A8B-5113-4FF0-9B440AEA04CD}"/>
              </a:ext>
            </a:extLst>
          </p:cNvPr>
          <p:cNvSpPr/>
          <p:nvPr/>
        </p:nvSpPr>
        <p:spPr>
          <a:xfrm>
            <a:off x="7452360" y="160020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0B2E4F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0B5C24E-7A04-3469-9FFC-E3F43A814C9C}"/>
              </a:ext>
            </a:extLst>
          </p:cNvPr>
          <p:cNvSpPr/>
          <p:nvPr/>
        </p:nvSpPr>
        <p:spPr>
          <a:xfrm>
            <a:off x="7452360" y="17830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8FA6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SCENE, MANY VIEWS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A03810-7D82-53A3-75AA-E6DA3AE7CB5A}"/>
              </a:ext>
            </a:extLst>
          </p:cNvPr>
          <p:cNvSpPr/>
          <p:nvPr/>
        </p:nvSpPr>
        <p:spPr>
          <a:xfrm>
            <a:off x="781812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/home/claude/work/icons/camera_FFFFFF.png">
            <a:extLst>
              <a:ext uri="{FF2B5EF4-FFF2-40B4-BE49-F238E27FC236}">
                <a16:creationId xmlns:a16="http://schemas.microsoft.com/office/drawing/2014/main" id="{9621CF94-35AE-222C-B38A-1442A036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21" y="2479121"/>
            <a:ext cx="272125" cy="272125"/>
          </a:xfrm>
          <a:prstGeom prst="rect">
            <a:avLst/>
          </a:prstGeom>
        </p:spPr>
      </p:pic>
      <p:sp>
        <p:nvSpPr>
          <p:cNvPr id="16" name="Shape 13">
            <a:extLst>
              <a:ext uri="{FF2B5EF4-FFF2-40B4-BE49-F238E27FC236}">
                <a16:creationId xmlns:a16="http://schemas.microsoft.com/office/drawing/2014/main" id="{509F103B-9368-914B-F158-0B46E48FEACE}"/>
              </a:ext>
            </a:extLst>
          </p:cNvPr>
          <p:cNvSpPr/>
          <p:nvPr/>
        </p:nvSpPr>
        <p:spPr>
          <a:xfrm>
            <a:off x="8385048" y="2615184"/>
            <a:ext cx="1051560" cy="0"/>
          </a:xfrm>
          <a:prstGeom prst="line">
            <a:avLst/>
          </a:prstGeom>
          <a:noFill/>
          <a:ln w="15875">
            <a:solidFill>
              <a:srgbClr val="3E5670"/>
            </a:solidFill>
            <a:prstDash val="dash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F678081-A348-ADD1-C0ED-C237BC4F4053}"/>
              </a:ext>
            </a:extLst>
          </p:cNvPr>
          <p:cNvSpPr/>
          <p:nvPr/>
        </p:nvSpPr>
        <p:spPr>
          <a:xfrm>
            <a:off x="7818120" y="3246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work/icons/camera_FFFFFF.png">
            <a:extLst>
              <a:ext uri="{FF2B5EF4-FFF2-40B4-BE49-F238E27FC236}">
                <a16:creationId xmlns:a16="http://schemas.microsoft.com/office/drawing/2014/main" id="{65F4CC4E-0004-F5B3-C9D8-65EC930E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21" y="3393521"/>
            <a:ext cx="272125" cy="272125"/>
          </a:xfrm>
          <a:prstGeom prst="rect">
            <a:avLst/>
          </a:prstGeom>
        </p:spPr>
      </p:pic>
      <p:sp>
        <p:nvSpPr>
          <p:cNvPr id="19" name="Shape 15">
            <a:extLst>
              <a:ext uri="{FF2B5EF4-FFF2-40B4-BE49-F238E27FC236}">
                <a16:creationId xmlns:a16="http://schemas.microsoft.com/office/drawing/2014/main" id="{55E13458-8A88-8601-C147-F789E68CC3F4}"/>
              </a:ext>
            </a:extLst>
          </p:cNvPr>
          <p:cNvSpPr/>
          <p:nvPr/>
        </p:nvSpPr>
        <p:spPr>
          <a:xfrm>
            <a:off x="8385048" y="3529584"/>
            <a:ext cx="1051560" cy="0"/>
          </a:xfrm>
          <a:prstGeom prst="line">
            <a:avLst/>
          </a:prstGeom>
          <a:noFill/>
          <a:ln w="15875">
            <a:solidFill>
              <a:srgbClr val="3E5670"/>
            </a:solidFill>
            <a:prstDash val="dash"/>
          </a:ln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DAC43F2-457D-F5F6-F89D-555780F00D0F}"/>
              </a:ext>
            </a:extLst>
          </p:cNvPr>
          <p:cNvSpPr/>
          <p:nvPr/>
        </p:nvSpPr>
        <p:spPr>
          <a:xfrm>
            <a:off x="781812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work/icons/camera_FFFFFF.png">
            <a:extLst>
              <a:ext uri="{FF2B5EF4-FFF2-40B4-BE49-F238E27FC236}">
                <a16:creationId xmlns:a16="http://schemas.microsoft.com/office/drawing/2014/main" id="{6185004B-F093-0D0C-FE86-67EF71EF1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21" y="4307921"/>
            <a:ext cx="272125" cy="272125"/>
          </a:xfrm>
          <a:prstGeom prst="rect">
            <a:avLst/>
          </a:prstGeom>
        </p:spPr>
      </p:pic>
      <p:sp>
        <p:nvSpPr>
          <p:cNvPr id="22" name="Shape 17">
            <a:extLst>
              <a:ext uri="{FF2B5EF4-FFF2-40B4-BE49-F238E27FC236}">
                <a16:creationId xmlns:a16="http://schemas.microsoft.com/office/drawing/2014/main" id="{A4002837-5363-609E-0ECE-A2BEE862CDBD}"/>
              </a:ext>
            </a:extLst>
          </p:cNvPr>
          <p:cNvSpPr/>
          <p:nvPr/>
        </p:nvSpPr>
        <p:spPr>
          <a:xfrm>
            <a:off x="8385048" y="4443984"/>
            <a:ext cx="1051560" cy="0"/>
          </a:xfrm>
          <a:prstGeom prst="line">
            <a:avLst/>
          </a:prstGeom>
          <a:noFill/>
          <a:ln w="15875">
            <a:solidFill>
              <a:srgbClr val="3E5670"/>
            </a:solidFill>
            <a:prstDash val="dash"/>
          </a:ln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14F25C14-C18F-8224-769F-0F02F21AD705}"/>
              </a:ext>
            </a:extLst>
          </p:cNvPr>
          <p:cNvSpPr/>
          <p:nvPr/>
        </p:nvSpPr>
        <p:spPr>
          <a:xfrm>
            <a:off x="9436608" y="3063240"/>
            <a:ext cx="822960" cy="822960"/>
          </a:xfrm>
          <a:prstGeom prst="ellipse">
            <a:avLst/>
          </a:prstGeom>
          <a:solidFill>
            <a:srgbClr val="FF8C42"/>
          </a:solidFill>
          <a:ln/>
        </p:spPr>
      </p:sp>
      <p:pic>
        <p:nvPicPr>
          <p:cNvPr id="24" name="Image 3" descr="/home/claude/work/icons/clock_FFFFFF.png">
            <a:extLst>
              <a:ext uri="{FF2B5EF4-FFF2-40B4-BE49-F238E27FC236}">
                <a16:creationId xmlns:a16="http://schemas.microsoft.com/office/drawing/2014/main" id="{24FE0892-7AB6-7D8C-763C-120395874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27832"/>
            <a:ext cx="493776" cy="49377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6C3ABD58-FE65-1A5B-68E1-190DE57ECCF0}"/>
              </a:ext>
            </a:extLst>
          </p:cNvPr>
          <p:cNvSpPr/>
          <p:nvPr/>
        </p:nvSpPr>
        <p:spPr>
          <a:xfrm>
            <a:off x="9966960" y="30632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timeline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B25DE42-CDC9-7F39-5A3E-836EF13FDB97}"/>
              </a:ext>
            </a:extLst>
          </p:cNvPr>
          <p:cNvSpPr/>
          <p:nvPr/>
        </p:nvSpPr>
        <p:spPr>
          <a:xfrm>
            <a:off x="7680960" y="51663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Cameras 1–3 capture the same moment from different angles, but only a common time reference makes their frames comparable.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E42176B-2596-769D-68DD-1D62F013CABE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16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Synchronization Issues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recurring sources of timing misalignment across camera networks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0036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Drift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internal oscillators in each camera gradually diverge, misaligning timestamps over long recording sessions.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0036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 Mismatch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82512" y="24688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running at different frame rates or unsynced shutters capture frames that do not correspond to the same instant.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icons/wifi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42439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41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 &amp; Jitter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4672" y="470916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transmission delay over wired or wireless links causes streams to arrive late, out of order, or unevenly spaced.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0965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2439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41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Exposure Delay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82512" y="470916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between a trigger signal and actual sensor exposure introduce small but critical sub-frame timing errors.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&amp;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0B2E4F"/>
          </a:solidFill>
          <a:ln/>
        </p:spPr>
      </p:sp>
      <p:pic>
        <p:nvPicPr>
          <p:cNvPr id="5" name="Image 0" descr="/home/claude/work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38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66090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4780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internal clocks &amp; oscillators per camera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43814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2552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network / transmission delay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68680" y="421538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processing pipeline overhead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499262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8097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common hardware trigger signal</a:t>
            </a:r>
            <a:endParaRPr lang="en-US" sz="1600" dirty="0"/>
          </a:p>
        </p:txBody>
      </p:sp>
      <p:pic>
        <p:nvPicPr>
          <p:cNvPr id="15" name="Image 1" descr="/home/claude/work/icons/arrowrigh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515868"/>
            <a:ext cx="512064" cy="51206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43600" y="169164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92024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pic>
        <p:nvPicPr>
          <p:cNvPr id="18" name="Image 2" descr="/home/claude/work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99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938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263640" y="266090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6492240" y="24780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3D reconstruction &amp; depth estimation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263640" y="34381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6492240" y="32552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multi-view object tracking and re-identification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63640" y="42153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649224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motion and event detection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263640" y="49926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6492240" y="48097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reliability of surveillance and AR/VR systems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Techniques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broad approaches to bringing camera streams onto one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29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Hardware-Based Sync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081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Genlock / External 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trigger or genlock signal fires every camera's shutter simultaneously.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" y="43525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42062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 (microsecond-level)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" y="48097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46634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specialized wiring / hardware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" y="52669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5120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studio &amp; broadcast rigs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25112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19572" y="1874520"/>
            <a:ext cx="731520" cy="731520"/>
          </a:xfrm>
          <a:prstGeom prst="ellipse">
            <a:avLst/>
          </a:prstGeom>
          <a:solidFill>
            <a:srgbClr val="FF8C42"/>
          </a:solidFill>
          <a:ln/>
        </p:spPr>
      </p:sp>
      <p:pic>
        <p:nvPicPr>
          <p:cNvPr id="18" name="Image 1" descr="/home/claude/work/icons/netwo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767" y="2064715"/>
            <a:ext cx="351130" cy="35113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07992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Software-Based Sync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07992" y="3081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/ NTP / PTP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81144" y="3474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timestamp frames independently; alignment happens in post-processing.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581144" y="43525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3" name="Text 19"/>
          <p:cNvSpPr/>
          <p:nvPr/>
        </p:nvSpPr>
        <p:spPr>
          <a:xfrm>
            <a:off x="4764024" y="42062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no special hardware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581144" y="48097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5" name="Text 21"/>
          <p:cNvSpPr/>
          <p:nvPr/>
        </p:nvSpPr>
        <p:spPr>
          <a:xfrm>
            <a:off x="4764024" y="46634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limited by network jitter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581144" y="52669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7" name="Text 23"/>
          <p:cNvSpPr/>
          <p:nvPr/>
        </p:nvSpPr>
        <p:spPr>
          <a:xfrm>
            <a:off x="4764024" y="5120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IoT &amp; surveillance networks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101584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496044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2" descr="/home/claude/wor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39" y="2064715"/>
            <a:ext cx="351130" cy="35113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284464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Approaches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284464" y="3081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Timestamp Correction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357616" y="34747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hardware triggering with software timestamp refinement.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357616" y="43525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5" name="Text 30"/>
          <p:cNvSpPr/>
          <p:nvPr/>
        </p:nvSpPr>
        <p:spPr>
          <a:xfrm>
            <a:off x="8540496" y="42062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 camera arrays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8357616" y="48097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7" name="Text 32"/>
          <p:cNvSpPr/>
          <p:nvPr/>
        </p:nvSpPr>
        <p:spPr>
          <a:xfrm>
            <a:off x="8540496" y="46634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accuracy and cost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8357616" y="5266944"/>
            <a:ext cx="73152" cy="7315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9" name="Text 34"/>
          <p:cNvSpPr/>
          <p:nvPr/>
        </p:nvSpPr>
        <p:spPr>
          <a:xfrm>
            <a:off x="8540496" y="5120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multi-view CV research, AR/VR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Techniques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latency, and cost trade-offs at a glance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108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Genlock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(µs)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/ broadcast, 3D reconstruction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NTP-Based Software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(~10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&amp; distributed surveillance networks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(IEEE 1588)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(~1 µs–1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vision, robotics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Trigger +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CV research, AR/VR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4"/>
          </a:solidFill>
          <a:ln/>
        </p:spPr>
      </p:sp>
      <p:pic>
        <p:nvPicPr>
          <p:cNvPr id="6" name="Image 0" descr="/home/claude/work/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41264"/>
            <a:ext cx="402336" cy="402336"/>
          </a:xfrm>
          <a:prstGeom prst="rect">
            <a:avLst/>
          </a:prstGeom>
        </p:spPr>
      </p:pic>
      <p:sp>
        <p:nvSpPr>
          <p:cNvPr id="4" name="Shape 3"/>
          <p:cNvSpPr/>
          <p:nvPr/>
        </p:nvSpPr>
        <p:spPr>
          <a:xfrm>
            <a:off x="731520" y="5495544"/>
            <a:ext cx="502920" cy="502920"/>
          </a:xfrm>
          <a:prstGeom prst="ellipse">
            <a:avLst/>
          </a:prstGeom>
          <a:solidFill>
            <a:srgbClr val="FF8C42"/>
          </a:solidFill>
          <a:ln/>
        </p:spPr>
      </p:sp>
      <p:pic>
        <p:nvPicPr>
          <p:cNvPr id="8" name="Image 1" descr="/home/claude/work/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5628132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54681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genlock wins on raw precision, while PTP and hybrid methods offer the best balance of accuracy, cost, and scalability for modern camera networks.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463040" cy="0"/>
          </a:xfrm>
          <a:prstGeom prst="line">
            <a:avLst/>
          </a:prstGeom>
          <a:noFill/>
          <a:ln w="3175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is a foundational requirement for reliable multi-camera computer vision. Timing errors — however small — propagate directly into 3D reconstruction, tracking, and event-detection accuracy. Combining hardware triggering with software timestamp correction currently offers the most practical path to robust, scalable multi-camera deployments.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work/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484961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331927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synchronization that learns and corrects drift in real time.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3337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work/icons/satelli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441" y="348496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331927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over 5G / edge networks to synchronize large wireless camera arrays.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work/icons/syn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47194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9888" y="455371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Self-calibrating sync using deep learning on shared visual cues across views.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35040" y="4572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ork/icons/sitem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441" y="471940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84848" y="455371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synchronization protocols for city-scale, large camera networks.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667</Words>
  <Application>Microsoft Office PowerPoint</Application>
  <PresentationFormat>Widescreen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 Kanta gurram</cp:lastModifiedBy>
  <cp:revision>5</cp:revision>
  <dcterms:created xsi:type="dcterms:W3CDTF">2026-07-27T04:39:27Z</dcterms:created>
  <dcterms:modified xsi:type="dcterms:W3CDTF">2026-07-27T05:31:23Z</dcterms:modified>
</cp:coreProperties>
</file>